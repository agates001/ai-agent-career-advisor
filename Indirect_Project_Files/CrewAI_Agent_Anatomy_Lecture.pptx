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38BDF8"/>
                </a:solidFill>
                <a:latin typeface="Arial"/>
              </a:defRPr>
            </a:pPr>
            <a:r>
              <a:t>THE ANATOMY OF A CREWAI AGENT OBJECT</a:t>
            </a:r>
          </a:p>
          <a:p>
            <a:pPr>
              <a:defRPr sz="1600">
                <a:solidFill>
                  <a:srgbClr val="F1F5F9"/>
                </a:solidFill>
                <a:latin typeface="Arial"/>
              </a:defRPr>
            </a:pPr>
            <a:r>
              <a:t>Graduate Lecture Guide: Code Architecture, Component Subsystems, and Dynamic Execution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AGENT OBJECT STRUCTURAL MAP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The five explicit operational components configured inside the Python instantiation wrapper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1. THE COGNITIVE BRAIN</a:t>
            </a:r>
          </a:p>
          <a:p>
            <a:pPr>
              <a:spcAft>
                <a:spcPts val="1200"/>
              </a:spcAft>
              <a:defRPr sz="1000" b="1">
                <a:solidFill>
                  <a:srgbClr val="F1F5F9"/>
                </a:solidFill>
                <a:latin typeface="Courier New"/>
              </a:defRPr>
            </a:pPr>
            <a:r>
              <a:t>Code: llm=ollm</a:t>
            </a:r>
          </a:p>
          <a:p>
            <a:pPr>
              <a:spcAft>
                <a:spcPts val="20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Handles core token computation, text pattern analysis, semantic evaluations, and logical response parsing.</a:t>
            </a:r>
          </a:p>
          <a:p>
            <a:pPr>
              <a:defRPr sz="1000" i="1">
                <a:solidFill>
                  <a:srgbClr val="94A3B8"/>
                </a:solidFill>
                <a:latin typeface="Arial"/>
              </a:defRPr>
            </a:pPr>
            <a:r>
              <a:t>Under the Hood:</a:t>
            </a:r>
            <a:br/>
            <a:r>
              <a:t>openai, litellm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828800"/>
            <a:ext cx="2011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2. THE PERSONA ENGINE</a:t>
            </a:r>
          </a:p>
          <a:p>
            <a:pPr>
              <a:spcAft>
                <a:spcPts val="1200"/>
              </a:spcAft>
              <a:defRPr sz="1000" b="1">
                <a:solidFill>
                  <a:srgbClr val="F1F5F9"/>
                </a:solidFill>
                <a:latin typeface="Courier New"/>
              </a:defRPr>
            </a:pPr>
            <a:r>
              <a:t>Code: role=, goal=, backstory=</a:t>
            </a:r>
          </a:p>
          <a:p>
            <a:pPr>
              <a:spcAft>
                <a:spcPts val="20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Compresses general knowledge boundaries into clear professional contexts using automated system prompt wrappers.</a:t>
            </a:r>
          </a:p>
          <a:p>
            <a:pPr>
              <a:defRPr sz="1000" i="1">
                <a:solidFill>
                  <a:srgbClr val="94A3B8"/>
                </a:solidFill>
                <a:latin typeface="Arial"/>
              </a:defRPr>
            </a:pPr>
            <a:r>
              <a:t>Under the Hood:</a:t>
            </a:r>
            <a:br/>
            <a:r>
              <a:t>crewai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2011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3. CONTEXTUAL MEMORY</a:t>
            </a:r>
          </a:p>
          <a:p>
            <a:pPr>
              <a:spcAft>
                <a:spcPts val="1200"/>
              </a:spcAft>
              <a:defRPr sz="1000" b="1">
                <a:solidFill>
                  <a:srgbClr val="F1F5F9"/>
                </a:solidFill>
                <a:latin typeface="Courier New"/>
              </a:defRPr>
            </a:pPr>
            <a:r>
              <a:t>Code: memory=True</a:t>
            </a:r>
          </a:p>
          <a:p>
            <a:pPr>
              <a:spcAft>
                <a:spcPts val="20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Indexes localized execution context layers, runtime task handoffs, and learned entity facts.</a:t>
            </a:r>
          </a:p>
          <a:p>
            <a:pPr>
              <a:defRPr sz="1000" i="1">
                <a:solidFill>
                  <a:srgbClr val="94A3B8"/>
                </a:solidFill>
                <a:latin typeface="Arial"/>
              </a:defRPr>
            </a:pPr>
            <a:r>
              <a:t>Under the Hood:</a:t>
            </a:r>
            <a:br/>
            <a:r>
              <a:t>chromadb,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828800"/>
            <a:ext cx="2011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4. REAL-WORLD HANDS</a:t>
            </a:r>
          </a:p>
          <a:p>
            <a:pPr>
              <a:spcAft>
                <a:spcPts val="1200"/>
              </a:spcAft>
              <a:defRPr sz="1000" b="1">
                <a:solidFill>
                  <a:srgbClr val="F1F5F9"/>
                </a:solidFill>
                <a:latin typeface="Courier New"/>
              </a:defRPr>
            </a:pPr>
            <a:r>
              <a:t>Code: tools=[...]</a:t>
            </a:r>
          </a:p>
          <a:p>
            <a:pPr>
              <a:spcAft>
                <a:spcPts val="20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Gives the agent API access hooks to scrape websites, query vector systems, read directories, or write code files.</a:t>
            </a:r>
          </a:p>
          <a:p>
            <a:pPr>
              <a:defRPr sz="1000" i="1">
                <a:solidFill>
                  <a:srgbClr val="94A3B8"/>
                </a:solidFill>
                <a:latin typeface="Arial"/>
              </a:defRPr>
            </a:pPr>
            <a:r>
              <a:t>Under the Hood:</a:t>
            </a:r>
            <a:br/>
            <a:r>
              <a:t>crewai-tools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828800"/>
            <a:ext cx="2011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5. REFLECTOR LOOP</a:t>
            </a:r>
          </a:p>
          <a:p>
            <a:pPr>
              <a:spcAft>
                <a:spcPts val="1200"/>
              </a:spcAft>
              <a:defRPr sz="1000" b="1">
                <a:solidFill>
                  <a:srgbClr val="F1F5F9"/>
                </a:solidFill>
                <a:latin typeface="Courier New"/>
              </a:defRPr>
            </a:pPr>
            <a:r>
              <a:t>Code: verbose=True</a:t>
            </a:r>
          </a:p>
          <a:p>
            <a:pPr>
              <a:spcAft>
                <a:spcPts val="20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Governs the ReAct evaluation iteration step before outputting a validated solution block to the user.</a:t>
            </a:r>
          </a:p>
          <a:p>
            <a:pPr>
              <a:defRPr sz="1000" i="1">
                <a:solidFill>
                  <a:srgbClr val="94A3B8"/>
                </a:solidFill>
                <a:latin typeface="Arial"/>
              </a:defRPr>
            </a:pPr>
            <a:r>
              <a:t>Under the Hood:</a:t>
            </a:r>
            <a:br/>
            <a:r>
              <a:t>Python re /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THE DYNAMIC PAYLOAD ASSEMBLY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How the framework translates component variables into a singular prompt sent to the LLM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F1F5F9"/>
                </a:solidFill>
                <a:latin typeface="Courier New"/>
              </a:defRPr>
            </a:pPr>
            <a:r>
              <a:t>[ PERSONA BLOCK ]              ──►   Injects role, goal, and backstory constraints directly to skew the base alignment model.</a:t>
            </a:r>
          </a:p>
          <a:p>
            <a:pPr>
              <a:spcAft>
                <a:spcPts val="1400"/>
              </a:spcAft>
              <a:defRPr sz="1200" b="1">
                <a:solidFill>
                  <a:srgbClr val="F1F5F9"/>
                </a:solidFill>
                <a:latin typeface="Courier New"/>
              </a:defRPr>
            </a:pPr>
            <a:r>
              <a:t>[ MEMORY RETRIEVAL ]           ──►   Stitches relevant semantic historical context fragments recovered from local vector database lookups.</a:t>
            </a:r>
          </a:p>
          <a:p>
            <a:pPr>
              <a:spcAft>
                <a:spcPts val="1400"/>
              </a:spcAft>
              <a:defRPr sz="1200" b="1">
                <a:solidFill>
                  <a:srgbClr val="F1F5F9"/>
                </a:solidFill>
                <a:latin typeface="Courier New"/>
              </a:defRPr>
            </a:pPr>
            <a:r>
              <a:t>[ TOOL REGISTRY ]              ──►   Exposes the strict text structural arguments required to call interface hooks like file system readers.</a:t>
            </a:r>
          </a:p>
          <a:p>
            <a:pPr>
              <a:spcAft>
                <a:spcPts val="1400"/>
              </a:spcAft>
              <a:defRPr sz="1200" b="1">
                <a:solidFill>
                  <a:srgbClr val="F1F5F9"/>
                </a:solidFill>
                <a:latin typeface="Courier New"/>
              </a:defRPr>
            </a:pPr>
            <a:r>
              <a:t>[ CURRENT TASK BOUNDS ]        ──►   Appends isolated operational goal scopes, specific criteria filters, and expected data schemas.</a:t>
            </a:r>
          </a:p>
          <a:p>
            <a:pPr>
              <a:spcAft>
                <a:spcPts val="1400"/>
              </a:spcAft>
              <a:defRPr sz="1200" b="1">
                <a:solidFill>
                  <a:srgbClr val="F1F5F9"/>
                </a:solidFill>
                <a:latin typeface="Courier New"/>
              </a:defRPr>
            </a:pPr>
            <a:r>
              <a:t>[ REACT INTERACTION TRIGGER ]  ──►   Forces the cognitive runtime loop engine to open its internal evaluation step ('Thought:', 'Action:')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